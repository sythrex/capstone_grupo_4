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Carlos Herrera Almendra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Marcelo Escobar León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0" presStyleCnt="2"/>
      <dgm:spPr/>
    </dgm:pt>
    <dgm:pt modelId="{3F97C059-D720-4D48-953F-B84D04D0BF79}" type="pres">
      <dgm:prSet presAssocID="{02A34BC0-F8BA-4A89-87A4-4F20079DFD06}" presName="img" presStyleLbl="fgImgPlace1" presStyleIdx="0" presStyleCnt="2"/>
      <dgm:spPr/>
    </dgm:pt>
    <dgm:pt modelId="{CFFDF23F-D296-4CDF-8EE4-8A672559E207}" type="pres">
      <dgm:prSet presAssocID="{02A34BC0-F8BA-4A89-87A4-4F20079DFD06}" presName="text" presStyleLbl="node1" presStyleIdx="0" presStyleCnt="2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1" presStyleCnt="2"/>
      <dgm:spPr/>
    </dgm:pt>
    <dgm:pt modelId="{7C6A764B-C67C-494C-B90E-7B3C3DDE54A4}" type="pres">
      <dgm:prSet presAssocID="{99FF0D0F-282A-4030-9AF5-3B7621881539}" presName="img" presStyleLbl="fgImgPlace1" presStyleIdx="1" presStyleCnt="2"/>
      <dgm:spPr/>
    </dgm:pt>
    <dgm:pt modelId="{0E12AD21-08CC-4736-A269-DD5234F9D874}" type="pres">
      <dgm:prSet presAssocID="{99FF0D0F-282A-4030-9AF5-3B7621881539}" presName="text" presStyleLbl="node1" presStyleIdx="1" presStyleCnt="2">
        <dgm:presLayoutVars>
          <dgm:bulletEnabled val="1"/>
        </dgm:presLayoutVars>
      </dgm:prSet>
      <dgm:spPr/>
    </dgm:pt>
  </dgm:ptLst>
  <dgm:cxnLst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4FE7AF63-70AC-4ED4-8BFB-DCB2408F3318}" srcId="{BE45140C-C326-4DAA-A267-498AD5117D68}" destId="{99FF0D0F-282A-4030-9AF5-3B7621881539}" srcOrd="1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0" destOrd="0" parTransId="{9ADB496F-2DB6-4F16-8C91-2EB9CDF5F2F2}" sibTransId="{44AB630E-CD8B-4223-9F51-5EEE4E054B0A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158F6488-FF9D-4053-8FD1-E0DD5F22ECAD}" type="presParOf" srcId="{6E1E561E-88C1-49C6-A3F7-DE4B9AD43273}" destId="{41A67AC8-1DD7-4AB7-96A3-87B24035E3FA}" srcOrd="0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1" destOrd="0" presId="urn:microsoft.com/office/officeart/2005/8/layout/vList4"/>
    <dgm:cxn modelId="{D2619F68-F71E-4DB7-B3E4-C0C69EDAA7FE}" type="presParOf" srcId="{6E1E561E-88C1-49C6-A3F7-DE4B9AD43273}" destId="{536722F8-2BA5-41A1-87DF-BBB1AF7DCA80}" srcOrd="2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AFE128-ACF6-44CA-B18B-64F5782CF210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Carlos Herrera Almendra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Cargo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Funciones desempeñadas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Marcelo Escobar León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Cargo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Funciones desempeñadas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7C6A764B-C67C-494C-B90E-7B3C3DDE54A4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11" Type="http://schemas.openxmlformats.org/officeDocument/2006/relationships/image" Target="../media/image16.jpe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jpe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MechaGestionEX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08929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/>
              <a:t>Falta o ausencia de trazabilidad de servicios y reparaciones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/>
              <a:t>Mala administración de clientes y vehículos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dirty="0"/>
              <a:t>Dificultades para realizar tareas internas del taller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MX" sz="1800" dirty="0"/>
              <a:t>Baja eficiencia en la comunicación con los clientes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/>
            <a:endParaRPr lang="es-MX" u="sng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MX" dirty="0"/>
              <a:t>Registro y administración de clientes y vehículos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MX" dirty="0"/>
              <a:t>Control de atenciones informativas y con detalle para taller y clientes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MX" dirty="0"/>
              <a:t>Seguimiento de estados de reparación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MX" dirty="0"/>
              <a:t>Procesos automatizados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MX" dirty="0"/>
              <a:t>Registro de inventario para posibles auditorías de repuestos.</a:t>
            </a:r>
          </a:p>
          <a:p>
            <a:pPr lvl="0"/>
            <a:endParaRPr lang="es-MX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/>
              <a:t>Desarrollar una plataforma web robusta y optimizada para talleres mecánicos, automatizando procesos claves y mejorando la trazabilidad de la información.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Implementación de módulos para registro y gestión de clientes y vehículos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Desarrollar un sistema de administración de servicios y atenciones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Integración de roles y perfiles a los clientes y funcionarios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Crear una interfaz segura, intuitiva y fácil de usar mediante ASP.NET (MVC), Bootstrap 5 y Entity Framework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s-CL" dirty="0"/>
              <a:t>Mejora de la eficiencia operativa de los talleres mediante automatización y centralización de los datos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CF4FEAA5-693A-F8E1-FB7E-9E9FDCB42583}"/>
              </a:ext>
            </a:extLst>
          </p:cNvPr>
          <p:cNvSpPr txBox="1"/>
          <p:nvPr/>
        </p:nvSpPr>
        <p:spPr>
          <a:xfrm>
            <a:off x="1032095" y="2462543"/>
            <a:ext cx="489792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Alcances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Gestión completa de clientes y vehículos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Administración de atenciones, bitácoras y servicios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Sistema de roles como cliente y funcionario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Módulo de </a:t>
            </a:r>
            <a:r>
              <a:rPr lang="es-CL" dirty="0" err="1"/>
              <a:t>Login</a:t>
            </a:r>
            <a:r>
              <a:rPr lang="es-CL" dirty="0"/>
              <a:t> con validaciones seguras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Base de datos integrada desde SQL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Arquitectura MVC utilizando ASP.NET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Integración de </a:t>
            </a:r>
            <a:r>
              <a:rPr lang="es-CL" dirty="0" err="1"/>
              <a:t>Chatbot</a:t>
            </a:r>
            <a:r>
              <a:rPr lang="es-CL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49FE783-6636-9E5C-8B7A-5FE0288FB31F}"/>
              </a:ext>
            </a:extLst>
          </p:cNvPr>
          <p:cNvSpPr txBox="1"/>
          <p:nvPr/>
        </p:nvSpPr>
        <p:spPr>
          <a:xfrm>
            <a:off x="6232188" y="2462543"/>
            <a:ext cx="49277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Limitaciones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se incluye facturación electrónica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se contempla integración con proveedores externos para los repuestos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Notificaciones por correo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se incluye módulo de SII ni Transbank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8C6C63E7-5377-9090-D5A2-EBF3CE81B17A}"/>
              </a:ext>
            </a:extLst>
          </p:cNvPr>
          <p:cNvSpPr txBox="1"/>
          <p:nvPr/>
        </p:nvSpPr>
        <p:spPr>
          <a:xfrm>
            <a:off x="932507" y="2317687"/>
            <a:ext cx="1038432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Se aplicó una metodología de desarrollo Ágil – Incrementable la cual fue desarrollada de la siguiente manera: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CL" dirty="0"/>
              <a:t>Iteraciones semanales de desarrollo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CL" dirty="0"/>
              <a:t>Priorización por funcionalidades (MVP)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CL" dirty="0"/>
              <a:t>Pruebas continuas a medida que se agregan los módulos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CL" dirty="0"/>
              <a:t>Reajustes y correcciones según las necesidades del sistema</a:t>
            </a:r>
          </a:p>
          <a:p>
            <a:r>
              <a:rPr lang="es-CL" dirty="0"/>
              <a:t>Fases: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dirty="0"/>
              <a:t>Análisis y levantamiento de requerimientos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dirty="0"/>
              <a:t>Diseño de arquitectura y modelo de datos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dirty="0"/>
              <a:t>Desarrollo por módulos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dirty="0"/>
              <a:t>Pruebas unitarias y funcionales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dirty="0"/>
              <a:t>Ajustes finales</a:t>
            </a:r>
          </a:p>
          <a:p>
            <a:pPr marL="342900" indent="-342900">
              <a:buFont typeface="+mj-lt"/>
              <a:buAutoNum type="arabicPeriod"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003333"/>
              </p:ext>
            </p:extLst>
          </p:nvPr>
        </p:nvGraphicFramePr>
        <p:xfrm>
          <a:off x="1248696" y="2113471"/>
          <a:ext cx="10235372" cy="4183634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624153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530173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93980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656918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dirty="0"/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67702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69326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ES" sz="11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Análisis y diseño inicial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Levantamiento de requerimientos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Definición de módulos 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Diseño de arquitectura 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Configuración de entorno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75609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Desarrollo e implementación del sistema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Desarrollo del módulo de clientes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Módulo de vehículos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Módulo de atenciones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Gestión de roles y usuarios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Integración base de </a:t>
                      </a:r>
                      <a:r>
                        <a:rPr lang="es-CL" sz="800" b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login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Construcción de vistas principales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Conexión con SQL Server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Pruebas parciales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Ajustes del sistema y correcciones 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Documentación técnica 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656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Pruebas finales y presentación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b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Pruebas integrales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Correcciones finales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Preparación </a:t>
                      </a:r>
                      <a:r>
                        <a:rPr lang="es-CL" sz="800" b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ppt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Preparación DEMO</a:t>
                      </a:r>
                      <a:endParaRPr lang="es-CL" sz="11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4" y="75073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áfico 9" descr="Usuario con relleno sólido">
            <a:extLst>
              <a:ext uri="{FF2B5EF4-FFF2-40B4-BE49-F238E27FC236}">
                <a16:creationId xmlns:a16="http://schemas.microsoft.com/office/drawing/2014/main" id="{FC204169-BA05-C459-1460-5180076993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2470" y="2953332"/>
            <a:ext cx="623531" cy="623531"/>
          </a:xfrm>
          <a:prstGeom prst="rect">
            <a:avLst/>
          </a:prstGeom>
        </p:spPr>
      </p:pic>
      <p:pic>
        <p:nvPicPr>
          <p:cNvPr id="11" name="Gráfico 10" descr="Usuario con relleno sólido">
            <a:extLst>
              <a:ext uri="{FF2B5EF4-FFF2-40B4-BE49-F238E27FC236}">
                <a16:creationId xmlns:a16="http://schemas.microsoft.com/office/drawing/2014/main" id="{B0858BA0-0C30-9384-5F47-E160BCFB47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2469" y="3561124"/>
            <a:ext cx="623531" cy="623531"/>
          </a:xfrm>
          <a:prstGeom prst="rect">
            <a:avLst/>
          </a:prstGeom>
        </p:spPr>
      </p:pic>
      <p:pic>
        <p:nvPicPr>
          <p:cNvPr id="12" name="Gráfico 11" descr="Usuario con relleno sólido">
            <a:extLst>
              <a:ext uri="{FF2B5EF4-FFF2-40B4-BE49-F238E27FC236}">
                <a16:creationId xmlns:a16="http://schemas.microsoft.com/office/drawing/2014/main" id="{1BF39532-6175-FC69-7FDC-4446783008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4500" y="4143225"/>
            <a:ext cx="623531" cy="623531"/>
          </a:xfrm>
          <a:prstGeom prst="rect">
            <a:avLst/>
          </a:prstGeom>
        </p:spPr>
      </p:pic>
      <p:sp>
        <p:nvSpPr>
          <p:cNvPr id="14" name="Flecha: a la derecha 13">
            <a:extLst>
              <a:ext uri="{FF2B5EF4-FFF2-40B4-BE49-F238E27FC236}">
                <a16:creationId xmlns:a16="http://schemas.microsoft.com/office/drawing/2014/main" id="{20C94674-B574-960C-F229-5338A5A2DEE7}"/>
              </a:ext>
            </a:extLst>
          </p:cNvPr>
          <p:cNvSpPr/>
          <p:nvPr/>
        </p:nvSpPr>
        <p:spPr>
          <a:xfrm>
            <a:off x="2472497" y="3688223"/>
            <a:ext cx="916857" cy="392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A20B7B-D868-FD8F-0C1E-08BADAC6EB4B}"/>
              </a:ext>
            </a:extLst>
          </p:cNvPr>
          <p:cNvSpPr txBox="1"/>
          <p:nvPr/>
        </p:nvSpPr>
        <p:spPr>
          <a:xfrm>
            <a:off x="2527051" y="3688223"/>
            <a:ext cx="916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HTTP</a:t>
            </a:r>
            <a:endParaRPr lang="es-CL" dirty="0"/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49893FF8-264F-BC2C-AB6C-F9D24AA6B890}"/>
              </a:ext>
            </a:extLst>
          </p:cNvPr>
          <p:cNvSpPr/>
          <p:nvPr/>
        </p:nvSpPr>
        <p:spPr>
          <a:xfrm>
            <a:off x="3806727" y="2733771"/>
            <a:ext cx="4388367" cy="240288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F540FE4-C83A-31EC-3E19-B476E34FEDF7}"/>
              </a:ext>
            </a:extLst>
          </p:cNvPr>
          <p:cNvSpPr txBox="1"/>
          <p:nvPr/>
        </p:nvSpPr>
        <p:spPr>
          <a:xfrm>
            <a:off x="3929969" y="3265098"/>
            <a:ext cx="4605467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Controladores</a:t>
            </a:r>
          </a:p>
          <a:p>
            <a:r>
              <a:rPr lang="es-ES" sz="1400" dirty="0" err="1"/>
              <a:t>LoginController</a:t>
            </a:r>
            <a:endParaRPr lang="es-ES" sz="1400" dirty="0"/>
          </a:p>
          <a:p>
            <a:r>
              <a:rPr lang="es-ES" sz="1400" dirty="0" err="1"/>
              <a:t>ViewController</a:t>
            </a:r>
            <a:endParaRPr lang="es-ES" sz="1400" dirty="0"/>
          </a:p>
          <a:p>
            <a:r>
              <a:rPr lang="es-ES" sz="1400" dirty="0" err="1"/>
              <a:t>Data_Api_Controller</a:t>
            </a:r>
            <a:endParaRPr lang="es-ES" sz="1400" dirty="0"/>
          </a:p>
          <a:p>
            <a:endParaRPr lang="es-ES" sz="1100" b="1" dirty="0"/>
          </a:p>
          <a:p>
            <a:r>
              <a:rPr lang="es-ES" b="1" dirty="0"/>
              <a:t>Servicios			Modelos</a:t>
            </a:r>
          </a:p>
          <a:p>
            <a:r>
              <a:rPr lang="es-ES" sz="1400" dirty="0"/>
              <a:t>Reglas de Aplicación		Entidades EF Core</a:t>
            </a:r>
          </a:p>
          <a:p>
            <a:endParaRPr lang="es-ES" dirty="0"/>
          </a:p>
        </p:txBody>
      </p:sp>
      <p:sp>
        <p:nvSpPr>
          <p:cNvPr id="18" name="Flecha: hacia abajo 17">
            <a:extLst>
              <a:ext uri="{FF2B5EF4-FFF2-40B4-BE49-F238E27FC236}">
                <a16:creationId xmlns:a16="http://schemas.microsoft.com/office/drawing/2014/main" id="{8AA94769-642C-C7EB-063D-A9298544E042}"/>
              </a:ext>
            </a:extLst>
          </p:cNvPr>
          <p:cNvSpPr/>
          <p:nvPr/>
        </p:nvSpPr>
        <p:spPr>
          <a:xfrm>
            <a:off x="5874589" y="5219479"/>
            <a:ext cx="362309" cy="57747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20" name="Imagen 19" descr="Logotipo&#10;&#10;El contenido generado por IA puede ser incorrecto.">
            <a:extLst>
              <a:ext uri="{FF2B5EF4-FFF2-40B4-BE49-F238E27FC236}">
                <a16:creationId xmlns:a16="http://schemas.microsoft.com/office/drawing/2014/main" id="{E92D47BA-1882-3B52-1F1A-AF14AF92EC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2744" y="5796951"/>
            <a:ext cx="1405998" cy="937332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3738D496-027A-4362-557E-7DFD7335563D}"/>
              </a:ext>
            </a:extLst>
          </p:cNvPr>
          <p:cNvSpPr txBox="1"/>
          <p:nvPr/>
        </p:nvSpPr>
        <p:spPr>
          <a:xfrm>
            <a:off x="5272175" y="5750806"/>
            <a:ext cx="1647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Integración API</a:t>
            </a:r>
            <a:endParaRPr lang="es-CL" dirty="0"/>
          </a:p>
        </p:txBody>
      </p:sp>
      <p:pic>
        <p:nvPicPr>
          <p:cNvPr id="25" name="Imagen 24" descr="Icono&#10;&#10;El contenido generado por IA puede ser incorrecto.">
            <a:extLst>
              <a:ext uri="{FF2B5EF4-FFF2-40B4-BE49-F238E27FC236}">
                <a16:creationId xmlns:a16="http://schemas.microsoft.com/office/drawing/2014/main" id="{FB2A0C8B-AEAA-0EE6-B2E8-AF3AAB8860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898" y="2145819"/>
            <a:ext cx="536203" cy="535189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B11FDA2F-E580-13CD-D216-73C7EEDCDE5C}"/>
              </a:ext>
            </a:extLst>
          </p:cNvPr>
          <p:cNvSpPr txBox="1"/>
          <p:nvPr/>
        </p:nvSpPr>
        <p:spPr>
          <a:xfrm>
            <a:off x="5085271" y="2695711"/>
            <a:ext cx="1940944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Azure App </a:t>
            </a:r>
            <a:r>
              <a:rPr lang="es-ES" dirty="0" err="1"/>
              <a:t>Service</a:t>
            </a:r>
            <a:endParaRPr lang="es-ES" dirty="0"/>
          </a:p>
          <a:p>
            <a:r>
              <a:rPr lang="es-ES" sz="1300" dirty="0"/>
              <a:t>(Aplicación ASP.NET MVC)</a:t>
            </a:r>
            <a:endParaRPr lang="es-CL" sz="1300" dirty="0"/>
          </a:p>
        </p:txBody>
      </p:sp>
      <p:pic>
        <p:nvPicPr>
          <p:cNvPr id="28" name="Imagen 27" descr="Icono&#10;&#10;El contenido generado por IA puede ser incorrecto.">
            <a:extLst>
              <a:ext uri="{FF2B5EF4-FFF2-40B4-BE49-F238E27FC236}">
                <a16:creationId xmlns:a16="http://schemas.microsoft.com/office/drawing/2014/main" id="{5721FB7B-F95C-235D-4A01-D12139FA39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0251" y="2953332"/>
            <a:ext cx="1720352" cy="1720352"/>
          </a:xfrm>
          <a:prstGeom prst="rect">
            <a:avLst/>
          </a:prstGeom>
        </p:spPr>
      </p:pic>
      <p:sp>
        <p:nvSpPr>
          <p:cNvPr id="29" name="Flecha: a la derecha 28">
            <a:extLst>
              <a:ext uri="{FF2B5EF4-FFF2-40B4-BE49-F238E27FC236}">
                <a16:creationId xmlns:a16="http://schemas.microsoft.com/office/drawing/2014/main" id="{3B6372FF-B1C9-E5DF-FDD7-AF0404D0ECE6}"/>
              </a:ext>
            </a:extLst>
          </p:cNvPr>
          <p:cNvSpPr/>
          <p:nvPr/>
        </p:nvSpPr>
        <p:spPr>
          <a:xfrm>
            <a:off x="8344217" y="3750723"/>
            <a:ext cx="916857" cy="3925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BBA5EB95-1335-F2A1-663F-13605BA077AC}"/>
              </a:ext>
            </a:extLst>
          </p:cNvPr>
          <p:cNvSpPr txBox="1"/>
          <p:nvPr/>
        </p:nvSpPr>
        <p:spPr>
          <a:xfrm>
            <a:off x="9187132" y="4520242"/>
            <a:ext cx="26224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Azure SQL </a:t>
            </a:r>
          </a:p>
          <a:p>
            <a:pPr algn="ctr"/>
            <a:r>
              <a:rPr lang="es-CL" sz="1300" dirty="0"/>
              <a:t>Base de datos </a:t>
            </a:r>
          </a:p>
          <a:p>
            <a:pPr algn="ctr"/>
            <a:r>
              <a:rPr lang="es-CL" sz="1300" dirty="0" err="1"/>
              <a:t>MechaGestionEX</a:t>
            </a:r>
            <a:endParaRPr lang="es-CL" sz="1300" dirty="0"/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689503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2F3099F1-1F21-B037-0FC6-F4A6DC47DD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6816"/>
            <a:ext cx="12192000" cy="443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MechaGestionEX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93974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07C7183D-5608-7F14-CA9A-4E725CC255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740" y="4366214"/>
            <a:ext cx="707778" cy="707778"/>
          </a:xfrm>
          <a:prstGeom prst="rect">
            <a:avLst/>
          </a:prstGeom>
        </p:spPr>
      </p:pic>
      <p:pic>
        <p:nvPicPr>
          <p:cNvPr id="10" name="Imagen 9" descr="Logotipo">
            <a:extLst>
              <a:ext uri="{FF2B5EF4-FFF2-40B4-BE49-F238E27FC236}">
                <a16:creationId xmlns:a16="http://schemas.microsoft.com/office/drawing/2014/main" id="{511AD244-DB79-A5A1-CD54-A94DC93807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897" y="1931811"/>
            <a:ext cx="678692" cy="540833"/>
          </a:xfrm>
          <a:prstGeom prst="rect">
            <a:avLst/>
          </a:prstGeom>
        </p:spPr>
      </p:pic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F20167DD-E269-EFC2-9EDB-AC9835F6685D}"/>
              </a:ext>
            </a:extLst>
          </p:cNvPr>
          <p:cNvSpPr/>
          <p:nvPr/>
        </p:nvSpPr>
        <p:spPr>
          <a:xfrm>
            <a:off x="984348" y="1787559"/>
            <a:ext cx="4313208" cy="22064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152AE8A-892A-A139-0CC5-DBCDD6966EBC}"/>
              </a:ext>
            </a:extLst>
          </p:cNvPr>
          <p:cNvSpPr txBox="1"/>
          <p:nvPr/>
        </p:nvSpPr>
        <p:spPr>
          <a:xfrm>
            <a:off x="998674" y="1787559"/>
            <a:ext cx="4298881" cy="1913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/>
              <a:t>Backend</a:t>
            </a:r>
            <a:endParaRPr lang="es-ES" b="1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C# - ASP.NET Core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 err="1"/>
              <a:t>Entity</a:t>
            </a:r>
            <a:r>
              <a:rPr lang="es-CL" sz="1300" dirty="0"/>
              <a:t> Framework Core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LINQ y Repositorios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Inyección de dependencias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6A8F2B5-E62D-3AB9-26FA-B6B0EE18B61D}"/>
              </a:ext>
            </a:extLst>
          </p:cNvPr>
          <p:cNvSpPr/>
          <p:nvPr/>
        </p:nvSpPr>
        <p:spPr>
          <a:xfrm>
            <a:off x="6615548" y="1789450"/>
            <a:ext cx="4313208" cy="22064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96D12F0-DFD9-B7F4-6796-BB844C3A06B3}"/>
              </a:ext>
            </a:extLst>
          </p:cNvPr>
          <p:cNvSpPr txBox="1"/>
          <p:nvPr/>
        </p:nvSpPr>
        <p:spPr>
          <a:xfrm>
            <a:off x="6615548" y="1776044"/>
            <a:ext cx="4298881" cy="1913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/>
              <a:t>Frontend</a:t>
            </a:r>
            <a:endParaRPr lang="es-ES" b="1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Bootstrap 5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HTML, CSS3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JavaScript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CL" sz="1300" dirty="0"/>
              <a:t>Migración en proceso desde jQuery a JS Nativo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F0AF3B2C-26DC-9C40-01A2-10D274F313DC}"/>
              </a:ext>
            </a:extLst>
          </p:cNvPr>
          <p:cNvSpPr/>
          <p:nvPr/>
        </p:nvSpPr>
        <p:spPr>
          <a:xfrm>
            <a:off x="998674" y="4259514"/>
            <a:ext cx="4313208" cy="22064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6C90713-6A45-C999-53A3-BA99F6B36580}"/>
              </a:ext>
            </a:extLst>
          </p:cNvPr>
          <p:cNvSpPr txBox="1"/>
          <p:nvPr/>
        </p:nvSpPr>
        <p:spPr>
          <a:xfrm>
            <a:off x="998675" y="4215778"/>
            <a:ext cx="4313208" cy="1913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Entorno de Desarrollo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ES" sz="1300" dirty="0"/>
              <a:t>Visual Studio 2022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ES" sz="1300" dirty="0"/>
              <a:t>GitHub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ES" sz="1300" dirty="0" err="1"/>
              <a:t>Postman</a:t>
            </a:r>
            <a:endParaRPr lang="es-ES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ES" sz="1300" dirty="0"/>
              <a:t>Azure</a:t>
            </a:r>
            <a:endParaRPr lang="es-CL" sz="1300" dirty="0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27055880-ABC4-1C41-6E58-C332928E1055}"/>
              </a:ext>
            </a:extLst>
          </p:cNvPr>
          <p:cNvSpPr/>
          <p:nvPr/>
        </p:nvSpPr>
        <p:spPr>
          <a:xfrm>
            <a:off x="6615548" y="4304222"/>
            <a:ext cx="4313208" cy="22064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A94679-E7AF-0D9D-3823-C3920371F6AA}"/>
              </a:ext>
            </a:extLst>
          </p:cNvPr>
          <p:cNvSpPr txBox="1"/>
          <p:nvPr/>
        </p:nvSpPr>
        <p:spPr>
          <a:xfrm>
            <a:off x="6615547" y="4368222"/>
            <a:ext cx="4313208" cy="105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Base de Datos</a:t>
            </a:r>
          </a:p>
          <a:p>
            <a:pPr marL="285750" indent="-285750">
              <a:lnSpc>
                <a:spcPct val="300000"/>
              </a:lnSpc>
              <a:buFont typeface="Arial" panose="020B0604020202020204" pitchFamily="34" charset="0"/>
              <a:buChar char="•"/>
            </a:pPr>
            <a:r>
              <a:rPr lang="es-ES" dirty="0"/>
              <a:t>SQL server de Azure</a:t>
            </a:r>
          </a:p>
        </p:txBody>
      </p:sp>
      <p:pic>
        <p:nvPicPr>
          <p:cNvPr id="21" name="Imagen 20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F50A5FE6-91B3-5169-CA3C-F53125F54A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2732" y="4720103"/>
            <a:ext cx="843232" cy="843232"/>
          </a:xfrm>
          <a:prstGeom prst="rect">
            <a:avLst/>
          </a:prstGeom>
        </p:spPr>
      </p:pic>
      <p:pic>
        <p:nvPicPr>
          <p:cNvPr id="22" name="Picture 2" descr="GitHub Logo - símbolo, significado logotipo, historia, PNG">
            <a:extLst>
              <a:ext uri="{FF2B5EF4-FFF2-40B4-BE49-F238E27FC236}">
                <a16:creationId xmlns:a16="http://schemas.microsoft.com/office/drawing/2014/main" id="{C628785C-69C3-C6CE-36CD-6E476CA63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372" y="5698328"/>
            <a:ext cx="1009679" cy="583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isual Studio Logo - símbolo, significado logotipo, historia, PNG">
            <a:extLst>
              <a:ext uri="{FF2B5EF4-FFF2-40B4-BE49-F238E27FC236}">
                <a16:creationId xmlns:a16="http://schemas.microsoft.com/office/drawing/2014/main" id="{9AC721D6-67FC-220E-03C3-5CFC540D1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5901" y="5762488"/>
            <a:ext cx="916471" cy="519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st ASP.Net Certification Training in Nagpur | Steps Technology">
            <a:extLst>
              <a:ext uri="{FF2B5EF4-FFF2-40B4-BE49-F238E27FC236}">
                <a16:creationId xmlns:a16="http://schemas.microsoft.com/office/drawing/2014/main" id="{0F42117E-3C37-A6B4-CF8C-067F52F33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2732" y="1801950"/>
            <a:ext cx="712285" cy="71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Entity Framework Core 3.0: ¿qué novedades nos trae?">
            <a:extLst>
              <a:ext uri="{FF2B5EF4-FFF2-40B4-BE49-F238E27FC236}">
                <a16:creationId xmlns:a16="http://schemas.microsoft.com/office/drawing/2014/main" id="{3C6A7A9D-9235-02D5-B465-D4518E39A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0808" y="2099209"/>
            <a:ext cx="616445" cy="616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XpertLab - Website Designing Company Junagadh,Website Development Company  Junagadh, Software Development Company Junagadh, Professional IT Project  Training Junagadh">
            <a:extLst>
              <a:ext uri="{FF2B5EF4-FFF2-40B4-BE49-F238E27FC236}">
                <a16:creationId xmlns:a16="http://schemas.microsoft.com/office/drawing/2014/main" id="{B4EEEEAC-44F7-92F4-E49B-7A5796CE1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555" y="2697430"/>
            <a:ext cx="911062" cy="66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nyección de Dependencias en .Net Framework">
            <a:extLst>
              <a:ext uri="{FF2B5EF4-FFF2-40B4-BE49-F238E27FC236}">
                <a16:creationId xmlns:a16="http://schemas.microsoft.com/office/drawing/2014/main" id="{64743CBC-461C-1F0A-0587-16C2C79E2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930" y="3222689"/>
            <a:ext cx="723870" cy="55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E1C9C112-9519-0705-94D8-48F7B39E3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6170" y="2073280"/>
            <a:ext cx="671887" cy="67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Imagen 23" descr="Icono&#10;&#10;El contenido generado por IA puede ser incorrecto.">
            <a:extLst>
              <a:ext uri="{FF2B5EF4-FFF2-40B4-BE49-F238E27FC236}">
                <a16:creationId xmlns:a16="http://schemas.microsoft.com/office/drawing/2014/main" id="{94474E46-B86E-FBCD-D0CB-145E9AECB00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648" y="2264524"/>
            <a:ext cx="593006" cy="837232"/>
          </a:xfrm>
          <a:prstGeom prst="rect">
            <a:avLst/>
          </a:prstGeom>
        </p:spPr>
      </p:pic>
      <p:pic>
        <p:nvPicPr>
          <p:cNvPr id="28" name="Imagen 27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BD909A0B-1754-8193-7BA9-2A4E969B75F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6562" y="2676019"/>
            <a:ext cx="737929" cy="838556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1C48A8DD-13BC-7077-86E1-7F3E32D88A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8264" y="4720103"/>
            <a:ext cx="1438476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643</Words>
  <Application>Microsoft Office PowerPoint</Application>
  <PresentationFormat>Panorámica</PresentationFormat>
  <Paragraphs>189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CARLOS . HERRERA ALMENDRA</cp:lastModifiedBy>
  <cp:revision>6</cp:revision>
  <dcterms:created xsi:type="dcterms:W3CDTF">2023-10-28T21:12:11Z</dcterms:created>
  <dcterms:modified xsi:type="dcterms:W3CDTF">2025-11-29T02:42:57Z</dcterms:modified>
</cp:coreProperties>
</file>